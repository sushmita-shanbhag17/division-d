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677" r:id="rId2"/>
    <p:sldId id="666" r:id="rId3"/>
    <p:sldId id="668" r:id="rId4"/>
    <p:sldId id="678" r:id="rId5"/>
    <p:sldId id="679" r:id="rId6"/>
  </p:sldIdLst>
  <p:sldSz cx="18288000" cy="10287000"/>
  <p:notesSz cx="6858000" cy="9144000"/>
  <p:embeddedFontLst>
    <p:embeddedFont>
      <p:font typeface="Book Antiqua" pitchFamily="18" charset="0"/>
      <p:regular r:id="rId9"/>
      <p:bold r:id="rId10"/>
      <p:italic r:id="rId11"/>
      <p:boldItalic r:id="rId12"/>
    </p:embeddedFont>
    <p:embeddedFont>
      <p:font typeface="Calibri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73" autoAdjust="0"/>
    <p:restoredTop sz="94470" autoAdjust="0"/>
  </p:normalViewPr>
  <p:slideViewPr>
    <p:cSldViewPr>
      <p:cViewPr varScale="1">
        <p:scale>
          <a:sx n="58" d="100"/>
          <a:sy n="58" d="100"/>
        </p:scale>
        <p:origin x="-197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39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7E68D43A-D655-AFC5-3F43-B3B3D96911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D5211C8-BC09-CA6D-0875-8E01A1D784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168A2-B815-3A43-BD28-1FDB8019324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7CAE49D-76E3-D8FC-3AD7-F458E1D87E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0ED5D8D-3478-CF58-CCBE-D7457CD9FB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26AA9-1C6A-1541-A5A5-23D0886675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05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1A95C-3FDC-F544-A925-10CEA3F7B3E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444EA-B8A8-D94E-AC42-599C43CED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3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2">
            <a:extLst>
              <a:ext uri="{FF2B5EF4-FFF2-40B4-BE49-F238E27FC236}">
                <a16:creationId xmlns="" xmlns:a16="http://schemas.microsoft.com/office/drawing/2014/main" id="{E47125F2-A471-B15B-2E98-87957AF1B288}"/>
              </a:ext>
            </a:extLst>
          </p:cNvPr>
          <p:cNvGrpSpPr>
            <a:grpSpLocks noChangeAspect="1"/>
          </p:cNvGrpSpPr>
          <p:nvPr/>
        </p:nvGrpSpPr>
        <p:grpSpPr>
          <a:xfrm>
            <a:off x="17054390" y="92758"/>
            <a:ext cx="1041422" cy="982544"/>
            <a:chOff x="0" y="0"/>
            <a:chExt cx="3882572" cy="3663066"/>
          </a:xfrm>
        </p:grpSpPr>
        <p:sp>
          <p:nvSpPr>
            <p:cNvPr id="8" name="Freeform 13">
              <a:extLst>
                <a:ext uri="{FF2B5EF4-FFF2-40B4-BE49-F238E27FC236}">
                  <a16:creationId xmlns="" xmlns:a16="http://schemas.microsoft.com/office/drawing/2014/main" id="{81CF3635-9EDB-A3A4-1EB9-AAACAC0D45AC}"/>
                </a:ext>
              </a:extLst>
            </p:cNvPr>
            <p:cNvSpPr/>
            <p:nvPr/>
          </p:nvSpPr>
          <p:spPr>
            <a:xfrm>
              <a:off x="0" y="0"/>
              <a:ext cx="3882517" cy="3663061"/>
            </a:xfrm>
            <a:custGeom>
              <a:avLst/>
              <a:gdLst/>
              <a:ahLst/>
              <a:cxnLst/>
              <a:rect l="l" t="t" r="r" b="b"/>
              <a:pathLst>
                <a:path w="3882517" h="3663061">
                  <a:moveTo>
                    <a:pt x="0" y="0"/>
                  </a:moveTo>
                  <a:lnTo>
                    <a:pt x="3882517" y="0"/>
                  </a:lnTo>
                  <a:lnTo>
                    <a:pt x="3882517" y="3663061"/>
                  </a:lnTo>
                  <a:lnTo>
                    <a:pt x="0" y="3663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</p:sp>
      </p:grp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DFED88B7-B2ED-F6E0-368F-4DDE5EFC2D4E}"/>
              </a:ext>
            </a:extLst>
          </p:cNvPr>
          <p:cNvCxnSpPr>
            <a:cxnSpLocks/>
          </p:cNvCxnSpPr>
          <p:nvPr userDrawn="1"/>
        </p:nvCxnSpPr>
        <p:spPr>
          <a:xfrm>
            <a:off x="0" y="1172877"/>
            <a:ext cx="18095812" cy="12700"/>
          </a:xfrm>
          <a:prstGeom prst="line">
            <a:avLst/>
          </a:prstGeom>
          <a:ln w="25400">
            <a:gradFill flip="none" rotWithShape="1">
              <a:gsLst>
                <a:gs pos="0">
                  <a:srgbClr val="C00000"/>
                </a:gs>
                <a:gs pos="23000">
                  <a:srgbClr val="C00000"/>
                </a:gs>
                <a:gs pos="68000">
                  <a:schemeClr val="accent2">
                    <a:lumMod val="75000"/>
                  </a:schemeClr>
                </a:gs>
                <a:gs pos="89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E4F2FFC7-E8AA-A4B2-F3C4-1EFF3E17FAF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92203" y="-3741"/>
            <a:ext cx="8229600" cy="1143000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C00000"/>
                </a:solidFill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8;p1"/>
          <p:cNvSpPr txBox="1">
            <a:spLocks noGrp="1"/>
          </p:cNvSpPr>
          <p:nvPr/>
        </p:nvSpPr>
        <p:spPr>
          <a:xfrm>
            <a:off x="3904481" y="1104900"/>
            <a:ext cx="12927593" cy="11147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t" anchorCtr="0">
            <a:normAutofit fontScale="7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2500" b="0" i="0" u="none" strike="noStrike" kern="1200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4572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2500" b="0" i="0" u="none" strike="noStrike" kern="1200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91440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2500" b="0" i="0" u="none" strike="noStrike" kern="1200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37160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2500" b="0" i="0" u="none" strike="noStrike" kern="1200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182880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2500" b="0" i="0" u="none" strike="noStrike" kern="1200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28600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2500" b="0" i="0" u="none" strike="noStrike" kern="1200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274320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2500" b="0" i="0" u="none" strike="noStrike" kern="1200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20040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2500" b="0" i="0" u="none" strike="noStrike" kern="1200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365760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  <a:defRPr sz="2500" b="0" i="0" u="none" strike="noStrike" kern="1200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US" sz="5300" dirty="0" smtClean="0">
                <a:solidFill>
                  <a:srgbClr val="FF0000"/>
                </a:solidFill>
              </a:rPr>
              <a:t>Employee </a:t>
            </a:r>
            <a:r>
              <a:rPr lang="en-US" sz="5300" dirty="0">
                <a:solidFill>
                  <a:srgbClr val="FF0000"/>
                </a:solidFill>
              </a:rPr>
              <a:t>Skill Gap </a:t>
            </a:r>
            <a:r>
              <a:rPr lang="en-US" sz="5300" dirty="0" err="1">
                <a:solidFill>
                  <a:srgbClr val="FF0000"/>
                </a:solidFill>
              </a:rPr>
              <a:t>Analyser</a:t>
            </a:r>
            <a:r>
              <a:rPr lang="en-US" sz="5300" dirty="0">
                <a:solidFill>
                  <a:srgbClr val="FF0000"/>
                </a:solidFill>
              </a:rPr>
              <a:t> and Learning Path Generator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275098"/>
              </p:ext>
            </p:extLst>
          </p:nvPr>
        </p:nvGraphicFramePr>
        <p:xfrm>
          <a:off x="4343400" y="3619500"/>
          <a:ext cx="9591675" cy="40957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85925"/>
                <a:gridCol w="2886075"/>
                <a:gridCol w="1819275"/>
                <a:gridCol w="3200400"/>
              </a:tblGrid>
              <a:tr h="847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SERIAL NO.</a:t>
                      </a:r>
                      <a:endParaRPr lang="en-US" sz="18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  <a:endParaRPr lang="en-US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ROLL NO.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1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USN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Sagar</a:t>
                      </a:r>
                      <a:r>
                        <a:rPr lang="en-US" sz="2400" b="0" i="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 Mirje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01FE23BCS287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Puneet</a:t>
                      </a:r>
                      <a:r>
                        <a:rPr lang="en-US" sz="2400" b="0" i="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 </a:t>
                      </a:r>
                      <a:r>
                        <a:rPr lang="en-US" sz="24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Gadade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01FE23BCS169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kern="120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Ria</a:t>
                      </a:r>
                      <a:r>
                        <a:rPr lang="en-US" sz="2400" b="0" i="0" kern="120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kern="1200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Javalgi</a:t>
                      </a:r>
                      <a:endParaRPr lang="en-US" sz="2400" b="0" i="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408</a:t>
                      </a:r>
                      <a:endParaRPr lang="en-US" sz="2400" b="0" i="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01FE23BCS060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47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Maitri</a:t>
                      </a:r>
                      <a:r>
                        <a:rPr lang="en-US" sz="2400" b="0" i="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400" b="0" i="0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Patil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404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850"/>
                        </a:lnSpc>
                        <a:buNone/>
                      </a:pPr>
                      <a:r>
                        <a:rPr lang="en-US" sz="2400" b="0" i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01FE23BCS048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2860" marR="102860" marT="51445" marB="5144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707371"/>
              </p:ext>
            </p:extLst>
          </p:nvPr>
        </p:nvGraphicFramePr>
        <p:xfrm>
          <a:off x="4419600" y="2705100"/>
          <a:ext cx="9571623" cy="6092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571623"/>
              </a:tblGrid>
              <a:tr h="609243">
                <a:tc>
                  <a:txBody>
                    <a:bodyPr/>
                    <a:lstStyle/>
                    <a:p>
                      <a:pPr algn="ctr" fontAlgn="base">
                        <a:lnSpc>
                          <a:spcPts val="3225"/>
                        </a:lnSpc>
                        <a:buNone/>
                      </a:pPr>
                      <a:r>
                        <a:rPr lang="en-US" sz="2700" dirty="0">
                          <a:effectLst/>
                          <a:latin typeface="Calibri" panose="020F0502020204030204"/>
                        </a:rPr>
                        <a:t>TEAM DETAILS : TEAM </a:t>
                      </a:r>
                      <a:r>
                        <a:rPr lang="en-US" sz="2700" dirty="0" smtClean="0">
                          <a:effectLst/>
                          <a:latin typeface="Calibri" panose="020F0502020204030204"/>
                        </a:rPr>
                        <a:t>11</a:t>
                      </a:r>
                      <a:endParaRPr lang="en-US" dirty="0">
                        <a:effectLst/>
                        <a:latin typeface="Calibri" panose="020F0502020204030204"/>
                      </a:endParaRPr>
                    </a:p>
                  </a:txBody>
                  <a:tcPr marL="137170" marR="137170" marT="68580" marB="6858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Picture 1" descr="A red and white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0303" y="196902"/>
            <a:ext cx="1107056" cy="1045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76600" y="9041368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Guide Name: </a:t>
            </a:r>
            <a:r>
              <a:rPr lang="en-IN" sz="2000" b="1" dirty="0" err="1" smtClean="0"/>
              <a:t>Dr</a:t>
            </a:r>
            <a:r>
              <a:rPr lang="en-IN" sz="2000" b="1" dirty="0" err="1" smtClean="0"/>
              <a:t>.</a:t>
            </a:r>
            <a:r>
              <a:rPr lang="en-IN" sz="2000" b="1" dirty="0"/>
              <a:t> </a:t>
            </a:r>
            <a:r>
              <a:rPr lang="en-IN" sz="2000" b="1" dirty="0" err="1"/>
              <a:t>Guruprasad</a:t>
            </a:r>
            <a:r>
              <a:rPr lang="en-IN" sz="2000" b="1" dirty="0"/>
              <a:t> S </a:t>
            </a:r>
            <a:r>
              <a:rPr lang="en-IN" sz="2000" b="1" dirty="0" err="1"/>
              <a:t>Konnurmath</a:t>
            </a:r>
            <a:endParaRPr lang="en-IN" sz="2000" b="1" dirty="0"/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72947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2202" y="-3741"/>
            <a:ext cx="9027997" cy="1143000"/>
          </a:xfrm>
        </p:spPr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76200" y="1485900"/>
            <a:ext cx="1768376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400" b="1" dirty="0"/>
              <a:t>Problem Statement</a:t>
            </a:r>
          </a:p>
          <a:p>
            <a:r>
              <a:rPr lang="en-US" sz="4400" dirty="0" smtClean="0"/>
              <a:t>                           HR </a:t>
            </a:r>
            <a:r>
              <a:rPr lang="en-US" sz="4400" dirty="0"/>
              <a:t>teams and employees struggle to identify skill gaps relative to current job market demands and internal role requirements. Build a </a:t>
            </a:r>
            <a:r>
              <a:rPr lang="en-US" sz="4400" dirty="0" err="1"/>
              <a:t>GenAI</a:t>
            </a:r>
            <a:r>
              <a:rPr lang="en-US" sz="4400" dirty="0"/>
              <a:t> system that takes an employee's current skill profile and target role requirements, performs a gap analysis, and generates a </a:t>
            </a:r>
            <a:r>
              <a:rPr lang="en-US" sz="4400" dirty="0" err="1"/>
              <a:t>personalised</a:t>
            </a:r>
            <a:r>
              <a:rPr lang="en-US" sz="4400" dirty="0"/>
              <a:t> 6-month learning path with specific course recommendations and milestones. </a:t>
            </a:r>
          </a:p>
        </p:txBody>
      </p:sp>
    </p:spTree>
    <p:extLst>
      <p:ext uri="{BB962C8B-B14F-4D97-AF65-F5344CB8AC3E}">
        <p14:creationId xmlns:p14="http://schemas.microsoft.com/office/powerpoint/2010/main" val="395491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2BB1B4-9651-B05E-9C01-2828DE59E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02" y="-3741"/>
            <a:ext cx="13904797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Objectives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228600" y="1181100"/>
            <a:ext cx="17221200" cy="93256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4000" b="1" dirty="0"/>
              <a:t>Deterministic Skill Assessment:</a:t>
            </a:r>
            <a:r>
              <a:rPr lang="en-US" sz="4000" dirty="0"/>
              <a:t> To accurately identify employee skill gaps by comparing their current proficiency against standardized, industry-specific role requirements.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b="1" dirty="0"/>
              <a:t>AI-Driven Career Insights:</a:t>
            </a:r>
            <a:r>
              <a:rPr lang="en-US" sz="4000" dirty="0"/>
              <a:t> To leverage advanced Language Models (</a:t>
            </a:r>
            <a:r>
              <a:rPr lang="en-US" sz="4000" dirty="0" err="1"/>
              <a:t>Groq</a:t>
            </a:r>
            <a:r>
              <a:rPr lang="en-US" sz="4000" dirty="0"/>
              <a:t>/Llama 3) to provide employees with professional, personalized feedback on their career positioning.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b="1" dirty="0"/>
              <a:t>Targeted Course Recommendation:</a:t>
            </a:r>
            <a:r>
              <a:rPr lang="en-US" sz="4000" dirty="0"/>
              <a:t> To automatically suggest the most relevant, highly-rated </a:t>
            </a:r>
            <a:r>
              <a:rPr lang="en-US" sz="4000" dirty="0" err="1"/>
              <a:t>Udemy</a:t>
            </a:r>
            <a:r>
              <a:rPr lang="en-US" sz="4000" dirty="0"/>
              <a:t> courses tailored to address an employee's exact skill deficiencies.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b="1" dirty="0"/>
              <a:t>Structured </a:t>
            </a:r>
            <a:r>
              <a:rPr lang="en-US" sz="4000" b="1" dirty="0" err="1"/>
              <a:t>Upskilling</a:t>
            </a:r>
            <a:r>
              <a:rPr lang="en-US" sz="4000" b="1" dirty="0"/>
              <a:t> Roadmaps:</a:t>
            </a:r>
            <a:r>
              <a:rPr lang="en-US" sz="4000" dirty="0"/>
              <a:t> To generate personalized, realistic 6-month study plans divided into actionable weekly learning milestones.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4000" b="1" dirty="0"/>
              <a:t>Streamlined HR Reporting:</a:t>
            </a:r>
            <a:r>
              <a:rPr lang="en-US" sz="4000" dirty="0"/>
              <a:t> To automate the creation of comprehensive, data-driven skill gap reports and development plans into easily downloadable formats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29514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2BB1B4-9651-B05E-9C01-2828DE59E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02" y="-3741"/>
            <a:ext cx="13904797" cy="1143000"/>
          </a:xfrm>
        </p:spPr>
        <p:txBody>
          <a:bodyPr>
            <a:noAutofit/>
          </a:bodyPr>
          <a:lstStyle/>
          <a:p>
            <a:r>
              <a:rPr lang="en-US" sz="4000" dirty="0" smtClean="0"/>
              <a:t>Architecture</a:t>
            </a:r>
            <a:endParaRPr lang="en-US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006" y="1499120"/>
            <a:ext cx="14630400" cy="813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53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113A7A-4572-57CA-EF33-9C48128F3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4200" y="6743700"/>
            <a:ext cx="8229600" cy="1143000"/>
          </a:xfrm>
        </p:spPr>
        <p:txBody>
          <a:bodyPr>
            <a:normAutofit/>
          </a:bodyPr>
          <a:lstStyle/>
          <a:p>
            <a:r>
              <a:rPr lang="en-US" sz="5000" dirty="0"/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3269209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4199</TotalTime>
  <Words>124</Words>
  <Application>Microsoft Office PowerPoint</Application>
  <PresentationFormat>Custom</PresentationFormat>
  <Paragraphs>34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 Antiqua</vt:lpstr>
      <vt:lpstr>Calibri</vt:lpstr>
      <vt:lpstr>Office Theme</vt:lpstr>
      <vt:lpstr>PowerPoint Presentation</vt:lpstr>
      <vt:lpstr>Problem Statement</vt:lpstr>
      <vt:lpstr>Objectives</vt:lpstr>
      <vt:lpstr>Architecture</vt:lpstr>
      <vt:lpstr>Thank You…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Automation: GenAI as Your Next Business Partner</dc:title>
  <dc:creator>admin</dc:creator>
  <cp:lastModifiedBy>admin</cp:lastModifiedBy>
  <cp:revision>95</cp:revision>
  <dcterms:created xsi:type="dcterms:W3CDTF">2006-08-16T00:00:00Z</dcterms:created>
  <dcterms:modified xsi:type="dcterms:W3CDTF">2026-05-30T18:47:39Z</dcterms:modified>
  <dc:identifier>DAGwPHT3TP8</dc:identifier>
</cp:coreProperties>
</file>